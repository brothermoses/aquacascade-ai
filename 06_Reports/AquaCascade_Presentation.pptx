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AquaCascade AI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29718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lead service-line investigation under the EPA Lead &amp; Copper Rule Improvements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Moise Tchivwila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Texas A&amp;M AI Venture Velocity Challenge — Stage 2 Progress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59436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is cross-validated and reproducible from one command.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federal mandate with one unsolved bottleneck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LCRI (Oct 2024) requires every U.S. community water system to resolve and replace lead service lines within ~10 years. The unknown lines — not the known ones — are the binding constraint.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7249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49,387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547872"/>
            <a:ext cx="2368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water systems analyzed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4688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7249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2.96 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93592" y="3547872"/>
            <a:ext cx="2368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+ galvanized lines to replace (~$16.7B)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269748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72491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22.5 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73952" y="3547872"/>
            <a:ext cx="23682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lead-status-UNKNOWN lines (~$4.5B to investigate)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0" y="2468880"/>
            <a:ext cx="2450592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81160" y="2724912"/>
            <a:ext cx="2267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7.6×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354312" y="3547872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 vs. the known lead problem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is ~$200/line; replacement ~$4,700/line. No operational tool decides which unknowns to investigate first. That is the gap.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followed the evidence, not the original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idea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554480"/>
            <a:ext cx="8442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“cascade” risk between water utilities.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468880"/>
            <a:ext cx="8442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true service-area-polygon adjacency graph and tested multi-hop propagation.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said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8442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geographically separate; the graph is too sparse — propagation gave no lift and hurt.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4297680"/>
            <a:ext cx="8442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inter-utility cascade. Moved to the real, mandated, unsolved problem: unknown-line triage.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a hypothesis on evidence is a result, not a failure.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EPA data, reproducible by anyone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54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53-quarter panel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554480"/>
            <a:ext cx="7436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Water System Summary 2013Q1–2026Q1, plus SDWIS service-line inventory, lead/copper samples, site visits, and the wholesale buyer→seller network.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3347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labels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633472"/>
            <a:ext cx="7436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what 1,935 systems actually did when they resolved unknowns — observed reclassification, never synthetic.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12464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controlled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3712464"/>
            <a:ext cx="7436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strictly precede the target window; an audit caught and corrected an earlier temporal leak (0.727 → 0.683).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3717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91456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One-command reproduction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4791456"/>
            <a:ext cx="7436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SHA-256 hashed with row counts; library versions and seed pinned in a manifest.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selected pipeline, step by step</a:t>
            </a:r>
            <a:endParaRPr lang="en-US" sz="2800" dirty="0"/>
          </a:p>
        </p:txBody>
      </p:sp>
      <p:pic>
        <p:nvPicPr>
          <p:cNvPr id="4" name="Image 0" descr="method flow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226" y="1481328"/>
            <a:ext cx="9311244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stochastic-calculus choices were settled by experiment, not assumption (next slides).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Calibrated, honestly validated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74320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(repeated CV, 95% CI 0.705–0.716)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481328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737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93592" y="2560320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 (well-calibrated)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2743200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37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73952" y="2560320"/>
            <a:ext cx="24140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lead-rich systems in the top 10% (~3.3×)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9720" y="1481328"/>
            <a:ext cx="2450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8100000">
              <a:srgbClr val="0B1E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81160" y="1737360"/>
            <a:ext cx="2267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1,935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54312" y="2560320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ground-truth systems</a:t>
            </a:r>
            <a:endParaRPr lang="en-US" sz="1250" dirty="0"/>
          </a:p>
        </p:txBody>
      </p:sp>
      <p:pic>
        <p:nvPicPr>
          <p:cNvPr id="16" name="Image 0" descr="triage_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438" y="3520440"/>
            <a:ext cx="9660819" cy="2788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· precision–recall · investigation-lift, out-of-fold.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 WE DO NOT HIDE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yet generalize to unseen states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Within-distribution ROC-AUC</a:t>
            </a:r>
            <a:endParaRPr lang="en-US" sz="15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37760" y="2743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35040" y="21031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on a NEW state</a:t>
            </a:r>
            <a:endParaRPr lang="en-US" sz="15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state- and program-specific patterns. So we scope it honestly: a tool for systems and state programs using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historical data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nationwide cold-start oracle. The gap defines our next experiment.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choices decided by experiment</a:t>
            </a:r>
            <a:endParaRPr lang="en-US" sz="2800" dirty="0"/>
          </a:p>
        </p:txBody>
      </p:sp>
      <p:pic>
        <p:nvPicPr>
          <p:cNvPr id="4" name="Image 0" descr="depth A/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912614" cy="3200400"/>
          </a:xfrm>
          <a:prstGeom prst="rect">
            <a:avLst/>
          </a:prstGeom>
        </p:spPr>
      </p:pic>
      <p:pic>
        <p:nvPicPr>
          <p:cNvPr id="5" name="Image 1" descr="calculus A/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4486961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4892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 &gt; depth 2: +0.0065 ROC on 100% of 25 paired CV splits.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583680" y="4892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Itô vs Stratonovich: indistinguishable (Δ +0.0001) — kept Stratonovich on principle.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tested and threw away</a:t>
            </a:r>
            <a:endParaRPr lang="en-US" sz="2800" dirty="0"/>
          </a:p>
        </p:txBody>
      </p:sp>
      <p:pic>
        <p:nvPicPr>
          <p:cNvPr id="4" name="Image 0" descr="experimen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253" y="1463040"/>
            <a:ext cx="8143189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measured in experiments killed, not lines of code written.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HOLD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is strongly clustered by region</a:t>
            </a:r>
            <a:endParaRPr lang="en-US" sz="2800" dirty="0"/>
          </a:p>
        </p:txBody>
      </p:sp>
      <p:pic>
        <p:nvPicPr>
          <p:cNvPr id="4" name="Image 0" descr="spatial_cascade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596" y="1554480"/>
            <a:ext cx="9152504" cy="3611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035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leakage-safe county-risk term lifts the risk model +0.047 ROC-AUC (0.695 → 0.742); systems in high-risk counties run from ~1.5% to ~61% violation rate. This is regional correlation (shared regulator, source water, environment) — not physical cascade.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THESE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Verifiability is the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found and corrected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26280" y="1783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optimistic 0.727 was traced to a temporal-ordering flaw and reported honestly as 0.683.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fabricated traction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26280" y="2834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interviews, pilots, or pipeline. Every claim computes from public EPA data.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3886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inputs, pinned versions and seed; one command regenerates every figure bit-for-bit.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 stated up front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4937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state-generalization gap is on its own slide, not buried.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 defined by the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58191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cross-state generalization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103628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hierarchical / state-aware model and per-state calibration. Success criterion fixed in advance: group-by-state ROC materially above 0.57.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815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99923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Customer-discovery validation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628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done — stated honestly. Structured interviews with state drinking-water programs and mid-size utilities to test the budget pain and trust threshold.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988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41655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846320"/>
            <a:ext cx="103628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EPA Census-linked service-area demographics to weight disadvantaged communities — an explicit LCRI requirement.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signatures useful for the selected method?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apply to any path — the data being non-Brownian was never the reason.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central to and HELP the Track-1 risk model.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the triage target three ways, all rejected on evidence:</a:t>
            </a:r>
            <a:endParaRPr lang="en-US" sz="13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distress-trajectory signature: −0.008 ROC</a:t>
            </a:r>
            <a:endParaRPr lang="en-US" sz="13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path: circular (label is that change) — excluded</a:t>
            </a:r>
            <a:endParaRPr lang="en-US" sz="13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lead-sample (PB90) path: −0.015 ROC, 0% of 25 splits help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lead-pipe material is structural (install era / codes), not trajectory-driven.</a:t>
            </a:r>
            <a:endParaRPr lang="en-US" sz="1350" dirty="0"/>
          </a:p>
        </p:txBody>
      </p:sp>
      <p:pic>
        <p:nvPicPr>
          <p:cNvPr id="5" name="Image 0" descr="PB90 path signature A/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00200"/>
            <a:ext cx="4760001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5029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test: lead-sample PB90 path signature (25 paired CV).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experiment ledger — every test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6634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regional-risk 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+0.047 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(regional corr.)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 multi-hop 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+0.006; Katz hurts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 trajectory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 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5-qtr signature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 (leakage flaw)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→ 0.683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depth 2 / 3 /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depth-3 +0.0065 (100% splits)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depth-3 kept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 vs Stratonovich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+0.0001 (tie)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Stratonovich kept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diagnostics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drift-dominated; non-anticipative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Replacement cost-optimization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 (62.7% was artifact)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De-prioritized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 signature on triage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 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PB90-path signature on triage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−0.015 ROC (0% splits)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unknown-line triage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within / 0.57 cross-state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step and the result it produced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760720"/>
                <a:gridCol w="3749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EPA files SHA-256-hashed; versions + seed pinned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manifest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 ≥10 unknowns; y = lead-yield ≥10%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1,935 systems, 9.2% 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evidence-supported; rejected ideas excluded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feats, 44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 + isotonic calibration (nested)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probabilities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5×5 stratified 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0.71; ECE 0.024; top-10% ≈ 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Group-by-state CV (unseen states)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0.57 — state-bound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Leakage-safe county-rate ablation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−0.019 → excluded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JSON, manifest, ranking CSV,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reproducible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EPA counts of unresolved unknowns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14,113 systems / 22.5M 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AquaCascade AI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574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calibrated, reproducible triage tool — honest about where it works.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 water system or state program spend the cheap investigation dollars on the unknown lines most likely to be lead — using its own historical EPA data.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5852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Moise Tchivwila  ·  AquaCascade AI  ·  Texas A&amp;M AI Venture Velocity Challenge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AquaCascade AI — Stage 2</dc:title>
  <dc:subject>PptxGenJS Presentation</dc:subject>
  <dc:creator>Moise Tchivwila</dc:creator>
  <cp:lastModifiedBy>Moise Tchivwila</cp:lastModifiedBy>
  <cp:revision>1</cp:revision>
  <dcterms:created xsi:type="dcterms:W3CDTF">2026-05-16T10:15:35Z</dcterms:created>
  <dcterms:modified xsi:type="dcterms:W3CDTF">2026-05-16T10:15:35Z</dcterms:modified>
</cp:coreProperties>
</file>